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"/>
            <a:ext cx="3383280" cy="5669280"/>
          </a:xfrm>
          <a:prstGeom prst="rect">
            <a:avLst/>
          </a:prstGeom>
          <a:solidFill>
            <a:srgbClr val="220000"/>
          </a:solidFill>
          <a:ln w="12700">
            <a:solidFill>
              <a:srgbClr val="22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1645920" cy="1645920"/>
          </a:xfrm>
          <a:prstGeom prst="ellipse">
            <a:avLst/>
          </a:prstGeom>
          <a:solidFill>
            <a:srgbClr val="CC0000">
              <a:alpha val="40000"/>
            </a:srgbClr>
          </a:solidFill>
          <a:ln w="12700">
            <a:solidFill>
              <a:srgbClr val="CC000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194560"/>
            <a:ext cx="914400" cy="914400"/>
          </a:xfrm>
          <a:prstGeom prst="ellipse">
            <a:avLst/>
          </a:prstGeom>
          <a:solidFill>
            <a:srgbClr val="CC0000">
              <a:alpha val="60000"/>
            </a:srgbClr>
          </a:solidFill>
          <a:ln w="12700">
            <a:solidFill>
              <a:srgbClr val="CC000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C0000"/>
                </a:solidFill>
              </a:rPr>
              <a:t>⚠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Phishing Awareness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Social Engineering Techniques — Major Project Cybersecurity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 Ltd  |  January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926080" cy="3291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55448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743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data breaches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phishing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8888"/>
                </a:solidFill>
              </a:rPr>
              <a:t>Verizon DBIR 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66160" y="11430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6160" y="1691640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642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phishing attacks exploit human psychology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66160" y="2258568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22311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a realistic phishing email to a consenting test group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66160" y="2825496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7980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user susceptibility: open rate, click rate, submission rate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66160" y="3392424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3649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behavior patterns and identify key vulnerability factors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66160" y="3959352"/>
            <a:ext cx="237744" cy="237744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3931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countermeasures to reduce the human attack surface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148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5087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124358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 Consent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participants invited; 24 gave informed written consent. No real data collected.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23160"/>
            <a:ext cx="41148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" y="2743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9808" y="247802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8620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NavioBank impersonation email — spoofed domain, urgency language, brand visuals, personalized greeting.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114800" cy="1097280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57600"/>
            <a:ext cx="41148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" y="3977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9808" y="371246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Login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 portal with trust badges (SSL padlock, fraud protection). Form triggers educational redirect.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188720"/>
            <a:ext cx="4114800" cy="1097280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88720"/>
            <a:ext cx="41148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5087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84648" y="124358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Deploy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4648" y="162763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sent individually over 2-week window. Tracking pixel + unique URL IDs logged opens &amp; clicks.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423160"/>
            <a:ext cx="4114800" cy="1097280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423160"/>
            <a:ext cx="41148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27432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84648" y="247802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84648" y="286207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Tracked: open rate, click rate, submission rate, report rate, pre/post awareness score.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657600"/>
            <a:ext cx="4114800" cy="1097280"/>
          </a:xfrm>
          <a:prstGeom prst="rect">
            <a:avLst/>
          </a:prstGeom>
          <a:solidFill>
            <a:srgbClr val="F5F0F0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657600"/>
            <a:ext cx="411480" cy="10972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39776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184648" y="371246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Debrief &amp; Training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84648" y="409651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debrief session explaining attack anatomy. Pre/post self-assessment surveys administered.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9999"/>
                </a:solidFill>
              </a:rPr>
              <a:t>Test group: 24 consenting participants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20240" cy="3291840"/>
          </a:xfrm>
          <a:prstGeom prst="rect">
            <a:avLst/>
          </a:prstGeom>
          <a:solidFill>
            <a:srgbClr val="CC3300"/>
          </a:solidFill>
          <a:ln w="12700">
            <a:solidFill>
              <a:srgbClr val="CC33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417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87.5%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Email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of 24 participants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20240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417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58.3%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Clicked the Link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of 24 participants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1920240" cy="3291840"/>
          </a:xfrm>
          <a:prstGeom prst="rect">
            <a:avLst/>
          </a:prstGeom>
          <a:solidFill>
            <a:srgbClr val="660000"/>
          </a:solidFill>
          <a:ln w="12700">
            <a:solidFill>
              <a:srgbClr val="66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417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37.5%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17720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Credentials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of 24 participants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20240" cy="3291840"/>
          </a:xfrm>
          <a:prstGeom prst="rect">
            <a:avLst/>
          </a:prstGeom>
          <a:solidFill>
            <a:srgbClr val="224422"/>
          </a:solidFill>
          <a:ln w="12700">
            <a:solidFill>
              <a:srgbClr val="22442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41732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16.7%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766560" y="2606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Suspicious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of 24 participants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1A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AAAA"/>
                </a:solidFill>
              </a:rPr>
              <a:t>Awareness Score: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5.2 / 10  →  8.4 / 10</a:t>
            </a:r>
            <a:pPr algn="ctr" indent="0" marL="0">
              <a:buNone/>
            </a:pPr>
            <a:r>
              <a:rPr lang="en-US" sz="1200" dirty="0">
                <a:solidFill>
                  <a:srgbClr val="FFAAAA"/>
                </a:solidFill>
              </a:rPr>
              <a:t>  after debrief training  |  </a:t>
            </a:r>
            <a:pPr algn="ctr" indent="0" marL="0">
              <a:buNone/>
            </a:pPr>
            <a:r>
              <a:rPr lang="en-US" sz="1300" b="1" dirty="0">
                <a:solidFill>
                  <a:srgbClr val="88FF88"/>
                </a:solidFill>
              </a:rPr>
              <a:t>+62%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795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Human Psychology = Weakest Link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54533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educated users fell victim. Technical knowledge alone does not immunize against social engineering.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274320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1795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Sender Verification is Ignored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1840" y="154533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14 link-clickers checked the sender address — yet all recognized it as fake when shown it post-debrief.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274320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1795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Trust Badges Create False Safety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154533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padlock and 'Fraud Protection' badges increased credibility. Victims cited these as the reason they felt secure.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274320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0083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 Urgency Disables Critical Thinking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337413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'24-hour deadline' and 'unusual activity' framing were the top reasons for immediate action.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274320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30083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Reporting Culture is Underdeveloped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91840" y="337413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16.7% reported the email. Most deleted it silently — a missed opportunity for organizational defense.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2743200" cy="34747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3008376"/>
            <a:ext cx="2596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Training Has Measurable Impact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3374136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debrief session improved awareness scores from 5.2 → 8.4 / 10. Scenario-based training works.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Countermeasures &amp; 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Countermeasures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023360" cy="347472"/>
          </a:xfrm>
          <a:prstGeom prst="rect">
            <a:avLst/>
          </a:prstGeom>
          <a:solidFill>
            <a:srgbClr val="1E0505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5361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Enable MFA on ALL accounts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911096"/>
            <a:ext cx="4023360" cy="347472"/>
          </a:xfrm>
          <a:prstGeom prst="rect">
            <a:avLst/>
          </a:prstGeom>
          <a:solidFill>
            <a:srgbClr val="2A0808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38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📨  Deploy SPF / DKIM / DMARC email auth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13432"/>
            <a:ext cx="4023360" cy="347472"/>
          </a:xfrm>
          <a:prstGeom prst="rect">
            <a:avLst/>
          </a:prstGeom>
          <a:solidFill>
            <a:srgbClr val="1E0505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3408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 Email security gateway (link scanning)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15768"/>
            <a:ext cx="4023360" cy="347472"/>
          </a:xfrm>
          <a:prstGeom prst="rect">
            <a:avLst/>
          </a:prstGeom>
          <a:solidFill>
            <a:srgbClr val="2A0808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7432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DNS filtering to block phishing domains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118104"/>
            <a:ext cx="4023360" cy="347472"/>
          </a:xfrm>
          <a:prstGeom prst="rect">
            <a:avLst/>
          </a:prstGeom>
          <a:solidFill>
            <a:srgbClr val="1E0505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1455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 Mandate password manager 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023360" cy="347472"/>
          </a:xfrm>
          <a:prstGeom prst="rect">
            <a:avLst/>
          </a:prstGeom>
          <a:solidFill>
            <a:srgbClr val="2A0808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547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Quarterly phishing simulations + training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922776"/>
            <a:ext cx="4023360" cy="347472"/>
          </a:xfrm>
          <a:prstGeom prst="rect">
            <a:avLst/>
          </a:prstGeom>
          <a:solidFill>
            <a:srgbClr val="1E0505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9502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Build a frictionless reporting culture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325112"/>
            <a:ext cx="4023360" cy="347472"/>
          </a:xfrm>
          <a:prstGeom prst="rect">
            <a:avLst/>
          </a:prstGeom>
          <a:solidFill>
            <a:srgbClr val="2A0808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43525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Documented Incident Response plan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4206240" cy="3200400"/>
          </a:xfrm>
          <a:prstGeom prst="rect">
            <a:avLst/>
          </a:prstGeom>
          <a:solidFill>
            <a:srgbClr val="1E0505"/>
          </a:solidFill>
          <a:ln w="12700">
            <a:solidFill>
              <a:srgbClr val="55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60020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9999"/>
                </a:solidFill>
              </a:rPr>
              <a:t>37.5% of participants submitted credentials on a convincing fake login page — demonstrating that human psychology remains the most exploitable attack surface.
</a:t>
            </a:r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</a:rPr>
              <a:t>Technical defenses alone are insufficient. The most impactful controls are:
</a:t>
            </a:r>
            <a:pPr indent="0" marL="0">
              <a:buNone/>
            </a:pPr>
            <a:r>
              <a:rPr lang="en-US" sz="1100" b="1" dirty="0">
                <a:solidFill>
                  <a:srgbClr val="88FF88"/>
                </a:solidFill>
              </a:rPr>
              <a:t>✔  MFA (neutralizes credential theft)
✔  Email auth protocols (stop spoofing)
✔  Regular training (measurably improves awareness)
</a:t>
            </a:r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</a:rPr>
              <a:t>A single debrief session raised awareness scores by 62% — proving that investment in human-layer security pays dividends.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Naviotech Solution Pvt Ltd  |  Cybersecurity Major Project  |  January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Simulation</dc:title>
  <dc:subject>PptxGenJS Presentation</dc:subject>
  <dc:creator>PptxGenJS</dc:creator>
  <cp:lastModifiedBy>PptxGenJS</cp:lastModifiedBy>
  <cp:revision>1</cp:revision>
  <dcterms:created xsi:type="dcterms:W3CDTF">2026-03-08T17:36:14Z</dcterms:created>
  <dcterms:modified xsi:type="dcterms:W3CDTF">2026-03-08T17:36:14Z</dcterms:modified>
</cp:coreProperties>
</file>